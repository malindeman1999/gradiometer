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3222" y="15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cc5b4c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cc5b4c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cc5b4c7c9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cc5b4c7c9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cc5b4c7c9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cc5b4c7c9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Gradometer Notes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 m Gradiometer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29361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8975" y="2571750"/>
            <a:ext cx="5591399" cy="218670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67FE2B2-5E8F-EC3F-413D-AEE97CB967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5212" y="385043"/>
            <a:ext cx="4327449" cy="1987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100 km Gradiometer</a:t>
            </a:r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1819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2376" y="2571750"/>
            <a:ext cx="5811625" cy="21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 descr="Graphical user interface, chart, histogram&#10;&#10;AI-generated content may be incorrect.">
            <a:extLst>
              <a:ext uri="{FF2B5EF4-FFF2-40B4-BE49-F238E27FC236}">
                <a16:creationId xmlns:a16="http://schemas.microsoft.com/office/drawing/2014/main" id="{59D06B3C-72BC-1DEC-EFE3-A86E921125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293" y="289431"/>
            <a:ext cx="4938492" cy="22823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	</a:t>
            </a:r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Samples of more than 1 second are well into the uncorrelated regime for 10 m and 100 km designs of gradiomenter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However, without the gradiometer the solar wind is correlated upto 100 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I’m not exactly sure why the two calculations of correlation of the (blue) solar wind only differ so much.  It is likely because correlation is not well defined for a power law so difference in sample window greatly affect the result.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B931C-4228-126A-B84C-8CAC765D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6994AD-752D-1036-3551-76FD29BA8AFF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b="1" dirty="0"/>
                  <a:t>Why this is true (tight version)</a:t>
                </a:r>
              </a:p>
              <a:p>
                <a:r>
                  <a:rPr lang="en-US" dirty="0"/>
                  <a:t>If the noise PSD is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r>
                  <a:rPr lang="en-US" dirty="0"/>
                  <a:t>and your frequency bin scales as</a:t>
                </a: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l-GR">
                        <a:latin typeface="Cambria Math" panose="02040503050406030204" pitchFamily="18" charset="0"/>
                      </a:rPr>
                      <m:t>∼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l-GR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en-US" i="1"/>
                          <m:t>constant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fractional</m:t>
                        </m:r>
                        <m:r>
                          <m:rPr>
                            <m:nor/>
                          </m:rPr>
                          <a:rPr lang="en-US" i="1"/>
                          <m:t> </m:t>
                        </m:r>
                        <m:r>
                          <m:rPr>
                            <m:nor/>
                          </m:rPr>
                          <a:rPr lang="en-US" i="1"/>
                          <m:t>bandwidth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ar-AE" dirty="0"/>
              </a:p>
              <a:p>
                <a:r>
                  <a:rPr lang="en-US" dirty="0"/>
                  <a:t>then the noise power in that bin is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ar-AE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ar-AE">
                        <a:latin typeface="Cambria Math" panose="02040503050406030204" pitchFamily="18" charset="0"/>
                      </a:rPr>
                      <m:t>∼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m:rPr>
                        <m:sty m:val="p"/>
                      </m:rPr>
                      <a:rPr lang="el-GR">
                        <a:latin typeface="Cambria Math" panose="02040503050406030204" pitchFamily="18" charset="0"/>
                      </a:rPr>
                      <m:t>Δ</m:t>
                    </m:r>
                    <m:r>
                      <a:rPr lang="el-GR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l-GR">
                        <a:latin typeface="Cambria Math" panose="02040503050406030204" pitchFamily="18" charset="0"/>
                      </a:rPr>
                      <m:t>∼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i="1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ar-AE" i="1">
                            <a:latin typeface="Cambria Math" panose="02040503050406030204" pitchFamily="18" charset="0"/>
                          </a:rPr>
                          <m:t>𝑓</m:t>
                        </m:r>
                      </m:den>
                    </m:f>
                    <m:r>
                      <m:rPr>
                        <m:nor/>
                      </m:rPr>
                      <a:rPr lang="ar-AE" i="1"/>
                      <m:t> 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ar-AE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i="1">
                        <a:latin typeface="Cambria Math" panose="02040503050406030204" pitchFamily="18" charset="0"/>
                      </a:rPr>
                      <m:t>𝐴</m:t>
                    </m:r>
                    <m:r>
                      <a:rPr lang="ar-AE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ar-AE" dirty="0"/>
              </a:p>
              <a:p>
                <a:r>
                  <a:rPr lang="en-US" dirty="0"/>
                  <a:t>So:</a:t>
                </a:r>
              </a:p>
              <a:p>
                <a:r>
                  <a:rPr lang="en-US" dirty="0"/>
                  <a:t>Lower frequencies → higher PSD</a:t>
                </a:r>
              </a:p>
              <a:p>
                <a:r>
                  <a:rPr lang="en-US" dirty="0"/>
                  <a:t>But → proportionally narrower bandwidth</a:t>
                </a:r>
              </a:p>
              <a:p>
                <a:r>
                  <a:rPr lang="en-US" b="1" dirty="0"/>
                  <a:t>They cancel</a:t>
                </a:r>
                <a:endParaRPr lang="en-US" dirty="0"/>
              </a:p>
              <a:p>
                <a:r>
                  <a:rPr lang="en-US" dirty="0"/>
                  <a:t>That’s exactly the reasoning you gave.</a:t>
                </a:r>
              </a:p>
              <a:p>
                <a:r>
                  <a:rPr lang="en-US" dirty="0"/>
                  <a:t>This is why people say:</a:t>
                </a:r>
              </a:p>
              <a:p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𝒇</m:t>
                    </m:r>
                  </m:oMath>
                </a14:m>
                <a:r>
                  <a:rPr lang="en-US" b="1" i="1" dirty="0"/>
                  <a:t>noise has equal power per decade</a:t>
                </a:r>
                <a:endParaRPr lang="en-US" b="1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76994AD-752D-1036-3551-76FD29BA8A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t="-536"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61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90370-F8FE-371C-8E3D-FCC3B6FCD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Peak Gradient are about 20 </a:t>
            </a:r>
            <a:r>
              <a:rPr lang="en-US" dirty="0" err="1"/>
              <a:t>pT</a:t>
            </a:r>
            <a:r>
              <a:rPr lang="en-US" dirty="0"/>
              <a:t> for large </a:t>
            </a:r>
            <a:r>
              <a:rPr lang="en-US" dirty="0" err="1"/>
              <a:t>conctivity</a:t>
            </a:r>
            <a:r>
              <a:rPr lang="en-US" dirty="0"/>
              <a:t> variation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1CE991-CD6F-732A-936B-75F73D8619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RMS conductivity  5%</a:t>
            </a:r>
          </a:p>
          <a:p>
            <a:r>
              <a:rPr lang="en-US" dirty="0"/>
              <a:t>Peak 30 </a:t>
            </a:r>
            <a:r>
              <a:rPr lang="en-US" dirty="0" err="1"/>
              <a:t>pT</a:t>
            </a:r>
            <a:r>
              <a:rPr lang="en-US" dirty="0"/>
              <a:t>/m</a:t>
            </a:r>
          </a:p>
        </p:txBody>
      </p:sp>
      <p:pic>
        <p:nvPicPr>
          <p:cNvPr id="6" name="Picture 5" descr="A picture containing shape&#10;&#10;AI-generated content may be incorrect.">
            <a:extLst>
              <a:ext uri="{FF2B5EF4-FFF2-40B4-BE49-F238E27FC236}">
                <a16:creationId xmlns:a16="http://schemas.microsoft.com/office/drawing/2014/main" id="{8926C9CB-1B22-F823-4294-AF98771F7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566996"/>
            <a:ext cx="3419226" cy="3001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76133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195</Words>
  <Application>Microsoft Office PowerPoint</Application>
  <PresentationFormat>On-screen Show (16:9)</PresentationFormat>
  <Paragraphs>24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Cambria Math</vt:lpstr>
      <vt:lpstr>Simple Light</vt:lpstr>
      <vt:lpstr>Gradometer Notes</vt:lpstr>
      <vt:lpstr>10 m Gradiometer</vt:lpstr>
      <vt:lpstr>100 km Gradiometer</vt:lpstr>
      <vt:lpstr>Conclusions </vt:lpstr>
      <vt:lpstr>PowerPoint Presentation</vt:lpstr>
      <vt:lpstr>Peak Gradient are about 20 pT for large conctivity variation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Lindeman, Mark A (US 365H)</cp:lastModifiedBy>
  <cp:revision>5</cp:revision>
  <dcterms:modified xsi:type="dcterms:W3CDTF">2026-02-03T23:21:57Z</dcterms:modified>
</cp:coreProperties>
</file>