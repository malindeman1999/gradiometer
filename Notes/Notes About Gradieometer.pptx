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23" d="100"/>
          <a:sy n="23" d="100"/>
        </p:scale>
        <p:origin x="288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3D02-031A-FFAE-C375-8EC982CDBA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48C736-2DC5-7A6F-D486-6766CD1D3A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72574-1C53-13C2-01BA-734EB6763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75CC8-5D31-EF18-3481-0932D35A7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4F2C4-5F80-21B5-0A95-5088CA07E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697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86C5E-1D85-6014-5744-51CB3A404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FBA4F-D624-B670-DA35-B07CB71BD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B1B32-2DCB-E178-D33D-43AEF774C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A2A225-906E-0811-6A47-509ACEF93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3CB8D-2C8C-F5FE-306D-F9349F147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23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823F0-E1B8-4435-EFCE-CBFA58214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D1BC3A-2689-D5CC-4498-FFF59A1CE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4432A-EE2F-D50D-FCBA-DC219E626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6EDEF-5F31-9D16-3290-F2CBE0643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4E87D-D487-4AE3-2BB9-67EFA98B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03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373BE-DC20-29EF-4CF2-2A5D2D5D0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71C79-B621-1E35-8E51-1B5BF80133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26939-B93A-E7D1-35E6-C2B86E5A8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A0773-96C8-3E8F-143A-1F1E2B0FC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B3A542-2BC6-F5CB-8EAA-77B8BB6F3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57200-4DDC-3923-0225-000DCB1BB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47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11D90-9ED4-1FC8-EB89-7BB0B1EA5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8F088-231F-9DDB-BBD9-4E6D97E65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E9CFF-C421-28D1-0AD2-B8F68C198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7BEE2A-F1FC-1418-19A4-F306FF5FBF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727A53-58D7-C675-0C87-3159EBFCF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DA7C56-2321-9250-DFB2-D1607883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42080F-600C-250A-A6BC-95F9CF607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581D23-2F12-E57A-4A73-0A7423F32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88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6AEAD-477A-116C-57BA-EC42C5FA8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6BB47-2742-CA81-873E-62123962A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E150D2-85C7-3BFC-343A-5CCFA3786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7A756-3E74-A440-9D47-50E493F71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093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679A42-7934-B1F5-142A-3606C5903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2D937D-A2F7-DC4F-44CF-C19DF7228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15A1E-2813-4419-3D8C-D9BFC4F59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598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9D900-502C-A9CF-F298-4438FD6B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4D2D5-C7F8-006F-4BF8-8386929AA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A11E59-70AE-B7B3-541A-242DE9887A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EAA2E-2E22-C31F-E133-5D465C939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9DC06-5865-8571-2DE8-98F4DF3E9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6B2E60-3FDD-4475-6EC2-D6DEF770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18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14EF3-EE0F-6134-45C1-2976C3DEE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DD3271-AEA0-F655-7D0E-3ABFE70F9B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6529DB-5426-C4FA-478C-93D23C3AB2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B3C7F8-BB8B-D127-379E-9B51680A4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A3932-2CD9-853D-2065-B91B63908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C7975-52E9-CFA7-6B8F-D19D5A65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36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CFC09-FF9B-E62C-0945-ABB763D0B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27E683-CAE5-A919-DAAB-E7BF2B91C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27B75-5318-8A66-6DC8-C4C30E993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8F05B-F5F0-0E42-60FC-1462982B6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BCDE8-7841-222D-DC6C-B8A1EE20B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437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80043-29B9-C6D2-09AF-ED34CCFD9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126A41-AC94-5C09-E32A-BB0DBF518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CA9E9-8278-FE91-E168-E22570ADC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EE33B-92F1-AADA-E7AE-92249771F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34ECB-E5FB-2968-7AFC-D836F8336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05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FAC5C9-5388-10F0-9099-7F53FC1BA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3485-5996-37B4-3BAE-7EB71FA02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33E711-94C1-D010-F10A-FA16676B76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DE638D-81AF-4D2F-A031-DA6E47D780CB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49C3D6-CF8E-1219-2909-D64A885B06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0FBF24-846F-539F-F5E4-F472F274D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42ED7C-DE1E-40E8-8097-974BAF1BA8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072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23BBD-E124-9B40-7215-DEA6FAD75B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Notes About Gradient </a:t>
            </a:r>
            <a:r>
              <a:rPr lang="en-US" dirty="0" err="1"/>
              <a:t>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2FA2A8-9B2B-27C4-5CC9-666B7786FA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466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3459D-AF72-61DD-F6C8-8DB3A65EE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336A2-16E9-D3E5-B4E3-B75184331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27650" cy="211137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A98DAD-09DD-95F0-38B1-1E2A72A0B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193" y="1924050"/>
            <a:ext cx="2940207" cy="45151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D4D5D3-EEB1-8D68-4BE6-3B53401DA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873" y="4648866"/>
            <a:ext cx="5081677" cy="200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429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651B1-737E-9F4F-0FFD-4D3CD7B5D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 with nonlinear solver, </a:t>
            </a:r>
            <a:r>
              <a:rPr lang="en-US" dirty="0" err="1"/>
              <a:t>sd</a:t>
            </a:r>
            <a:r>
              <a:rPr lang="en-US" dirty="0"/>
              <a:t>=3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82103-1A42-9614-E8F5-4E53CAC86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197100" cy="4351338"/>
          </a:xfrm>
        </p:spPr>
        <p:txBody>
          <a:bodyPr/>
          <a:lstStyle/>
          <a:p>
            <a:r>
              <a:rPr lang="en-US" dirty="0"/>
              <a:t>For 3 </a:t>
            </a:r>
            <a:r>
              <a:rPr lang="en-US" dirty="0" err="1"/>
              <a:t>subdiv</a:t>
            </a:r>
            <a:r>
              <a:rPr lang="en-US" dirty="0"/>
              <a:t>. , current phasors does not match, nonlinear is DC only </a:t>
            </a:r>
          </a:p>
        </p:txBody>
      </p:sp>
      <p:pic>
        <p:nvPicPr>
          <p:cNvPr id="5" name="Picture 4" descr="Graphical user interface, application&#10;&#10;AI-generated content may be incorrect.">
            <a:extLst>
              <a:ext uri="{FF2B5EF4-FFF2-40B4-BE49-F238E27FC236}">
                <a16:creationId xmlns:a16="http://schemas.microsoft.com/office/drawing/2014/main" id="{EC5A87E0-4ACC-4CA3-7FE6-CEEB1E065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746" y="2108200"/>
            <a:ext cx="8132153" cy="327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500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0E85-A5B6-78BF-C27E-28DB69166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 linear solver </a:t>
            </a:r>
            <a:r>
              <a:rPr lang="en-US" dirty="0" err="1"/>
              <a:t>sd</a:t>
            </a:r>
            <a:r>
              <a:rPr lang="en-US" dirty="0"/>
              <a:t>=2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CE4FD-C1D7-88FC-2EBC-C7FE46762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146300" cy="4351338"/>
          </a:xfrm>
        </p:spPr>
        <p:txBody>
          <a:bodyPr/>
          <a:lstStyle/>
          <a:p>
            <a:r>
              <a:rPr lang="en-US" dirty="0"/>
              <a:t>Nonlinear closely matches linear for </a:t>
            </a:r>
            <a:r>
              <a:rPr lang="en-US" dirty="0" err="1"/>
              <a:t>sd</a:t>
            </a:r>
            <a:r>
              <a:rPr lang="en-US" dirty="0"/>
              <a:t>=2</a:t>
            </a:r>
          </a:p>
        </p:txBody>
      </p:sp>
      <p:pic>
        <p:nvPicPr>
          <p:cNvPr id="7" name="Picture 6" descr="Graphical user interface, application&#10;&#10;AI-generated content may be incorrect.">
            <a:extLst>
              <a:ext uri="{FF2B5EF4-FFF2-40B4-BE49-F238E27FC236}">
                <a16:creationId xmlns:a16="http://schemas.microsoft.com/office/drawing/2014/main" id="{7BB32053-53FE-EBCA-82F8-DA46D7ED8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5444" y="2000249"/>
            <a:ext cx="8475406" cy="3596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20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101F1-AF56-F93E-F31D-55A69E2B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3EDF1-C6A2-15B6-E9DA-25656B2B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657350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 descr="Chart, scatter chart&#10;&#10;AI-generated content may be incorrect.">
            <a:extLst>
              <a:ext uri="{FF2B5EF4-FFF2-40B4-BE49-F238E27FC236}">
                <a16:creationId xmlns:a16="http://schemas.microsoft.com/office/drawing/2014/main" id="{3BD2FB61-6BDC-351E-D1AE-9790D9D5EF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419"/>
          <a:stretch>
            <a:fillRect/>
          </a:stretch>
        </p:blipFill>
        <p:spPr>
          <a:xfrm>
            <a:off x="3759200" y="1758157"/>
            <a:ext cx="6091333" cy="23709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80EE6C-1201-1FBF-313E-5FE53C85B142}"/>
              </a:ext>
            </a:extLst>
          </p:cNvPr>
          <p:cNvSpPr txBox="1"/>
          <p:nvPr/>
        </p:nvSpPr>
        <p:spPr>
          <a:xfrm>
            <a:off x="4476750" y="1573491"/>
            <a:ext cx="3229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0.00001 % contrast -- unstable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1D75F9-8930-D0E7-3CDE-1C895822926D}"/>
              </a:ext>
            </a:extLst>
          </p:cNvPr>
          <p:cNvSpPr txBox="1"/>
          <p:nvPr/>
        </p:nvSpPr>
        <p:spPr>
          <a:xfrm>
            <a:off x="9982200" y="1758157"/>
            <a:ext cx="294005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/>
              <a:t>Building sparse mixing matrix...</a:t>
            </a:r>
          </a:p>
          <a:p>
            <a:r>
              <a:rPr lang="en-US" sz="600" dirty="0"/>
              <a:t>Solving first-order currents (no feedback)...</a:t>
            </a:r>
          </a:p>
          <a:p>
            <a:r>
              <a:rPr lang="en-US" sz="600" dirty="0" err="1"/>
              <a:t>b_ext_flat</a:t>
            </a:r>
            <a:r>
              <a:rPr lang="en-US" sz="600" dirty="0"/>
              <a:t>: </a:t>
            </a:r>
            <a:r>
              <a:rPr lang="en-US" sz="600" dirty="0" err="1"/>
              <a:t>max|v</a:t>
            </a:r>
            <a:r>
              <a:rPr lang="en-US" sz="600" dirty="0"/>
              <a:t>|=5.000e-07,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k_flat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</a:t>
            </a:r>
            <a:r>
              <a:rPr lang="en-US" sz="600" dirty="0" err="1"/>
              <a:t>max|v</a:t>
            </a:r>
            <a:r>
              <a:rPr lang="en-US" sz="600" dirty="0"/>
              <a:t>|=1.661e+03,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K_tor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total power=1.161e+08, top l fractions: l=26:22.07%, l=28:20.31%, l=30:17.49%, l=24:12.37%, l=32:11.88%, l=22:5.43%</a:t>
            </a:r>
          </a:p>
          <a:p>
            <a:r>
              <a:rPr lang="en-US" sz="600" dirty="0"/>
              <a:t>Error: First-order response energy exceeds source energy: resp=3.003e-12 &gt; </a:t>
            </a:r>
            <a:r>
              <a:rPr lang="en-US" sz="600" dirty="0" err="1"/>
              <a:t>src</a:t>
            </a:r>
            <a:r>
              <a:rPr lang="en-US" sz="600" dirty="0"/>
              <a:t>=5.000e-13.</a:t>
            </a:r>
          </a:p>
          <a:p>
            <a:r>
              <a:rPr lang="en-US" sz="600" dirty="0"/>
              <a:t>Step 1b complete. Displayed round-trip scatter plots.</a:t>
            </a:r>
          </a:p>
          <a:p>
            <a:r>
              <a:rPr lang="en-US" sz="600" dirty="0"/>
              <a:t>Assembling Gaunt tensor from data\</a:t>
            </a:r>
            <a:r>
              <a:rPr lang="en-US" sz="600" dirty="0" err="1"/>
              <a:t>gaunt_cache_wigxjpf</a:t>
            </a:r>
            <a:r>
              <a:rPr lang="en-US" sz="600" dirty="0"/>
              <a:t> (</a:t>
            </a:r>
            <a:r>
              <a:rPr lang="en-US" sz="600" dirty="0" err="1"/>
              <a:t>lmax_limit</a:t>
            </a:r>
            <a:r>
              <a:rPr lang="en-US" sz="600" dirty="0"/>
              <a:t>=35)...</a:t>
            </a:r>
          </a:p>
          <a:p>
            <a:r>
              <a:rPr lang="en-US" sz="600" dirty="0"/>
              <a:t>Gaunt tensor </a:t>
            </a:r>
            <a:r>
              <a:rPr lang="en-US" sz="600" dirty="0" err="1"/>
              <a:t>nnz</a:t>
            </a:r>
            <a:r>
              <a:rPr lang="en-US" sz="600" dirty="0"/>
              <a:t>=13813899, </a:t>
            </a:r>
            <a:r>
              <a:rPr lang="en-US" sz="600" dirty="0" err="1"/>
              <a:t>complete_L</a:t>
            </a:r>
            <a:r>
              <a:rPr lang="en-US" sz="600" dirty="0"/>
              <a:t>=35</a:t>
            </a:r>
          </a:p>
          <a:p>
            <a:r>
              <a:rPr lang="en-US" sz="600" dirty="0"/>
              <a:t>Building sparse mixing matrix...</a:t>
            </a:r>
          </a:p>
          <a:p>
            <a:r>
              <a:rPr lang="en-US" sz="600" dirty="0"/>
              <a:t>Solving first-order currents (no feedback)...</a:t>
            </a:r>
          </a:p>
          <a:p>
            <a:r>
              <a:rPr lang="en-US" sz="600" dirty="0" err="1"/>
              <a:t>b_ext_flat</a:t>
            </a:r>
            <a:r>
              <a:rPr lang="en-US" sz="600" dirty="0"/>
              <a:t>: </a:t>
            </a:r>
            <a:r>
              <a:rPr lang="en-US" sz="600" dirty="0" err="1"/>
              <a:t>max|v</a:t>
            </a:r>
            <a:r>
              <a:rPr lang="en-US" sz="600" dirty="0"/>
              <a:t>|=5.000e-07,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k_flat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</a:t>
            </a:r>
            <a:r>
              <a:rPr lang="en-US" sz="600" dirty="0" err="1"/>
              <a:t>max|v</a:t>
            </a:r>
            <a:r>
              <a:rPr lang="en-US" sz="600" dirty="0"/>
              <a:t>|=1.661e+03,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K_tor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total power=1.161e+08, top l fractions: l=26:22.07%, l=28:20.31%, l=30:17.49%, l=24:12.37%, l=32:11.88%, l=22:5.43%</a:t>
            </a:r>
          </a:p>
          <a:p>
            <a:r>
              <a:rPr lang="en-US" sz="600" dirty="0"/>
              <a:t>Error: First-order response energy exceeds source energy: resp=3.003e-12 &gt; </a:t>
            </a:r>
            <a:r>
              <a:rPr lang="en-US" sz="600" dirty="0" err="1"/>
              <a:t>src</a:t>
            </a:r>
            <a:r>
              <a:rPr lang="en-US" sz="600" dirty="0"/>
              <a:t>=5.000e-13.</a:t>
            </a:r>
          </a:p>
        </p:txBody>
      </p:sp>
      <p:pic>
        <p:nvPicPr>
          <p:cNvPr id="10" name="Picture 9" descr="Chart, scatter chart&#10;&#10;AI-generated content may be incorrect.">
            <a:extLst>
              <a:ext uri="{FF2B5EF4-FFF2-40B4-BE49-F238E27FC236}">
                <a16:creationId xmlns:a16="http://schemas.microsoft.com/office/drawing/2014/main" id="{790DE427-A189-0CD8-5433-C075A990B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4599" y="4217640"/>
            <a:ext cx="5430933" cy="21337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D2C7134-0D62-89D1-2995-D073892E3E2A}"/>
              </a:ext>
            </a:extLst>
          </p:cNvPr>
          <p:cNvSpPr txBox="1"/>
          <p:nvPr/>
        </p:nvSpPr>
        <p:spPr>
          <a:xfrm>
            <a:off x="9982200" y="4001294"/>
            <a:ext cx="196215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/>
              <a:t>Cleared outputs in figures and artifacts\workflow.</a:t>
            </a:r>
          </a:p>
          <a:p>
            <a:r>
              <a:rPr lang="en-US" sz="600" dirty="0"/>
              <a:t>Step 1 complete (subdivisions=3, faces=1280). Saved </a:t>
            </a:r>
            <a:r>
              <a:rPr lang="en-US" sz="600" dirty="0" err="1"/>
              <a:t>grid+admittance</a:t>
            </a:r>
            <a:r>
              <a:rPr lang="en-US" sz="600" dirty="0"/>
              <a:t> to artifacts\workflow\grid_admittance.pt</a:t>
            </a:r>
          </a:p>
          <a:p>
            <a:r>
              <a:rPr lang="en-US" sz="600" dirty="0"/>
              <a:t>Step 1b complete. Displayed round-trip scatter plots.</a:t>
            </a:r>
          </a:p>
          <a:p>
            <a:r>
              <a:rPr lang="en-US" sz="600" dirty="0"/>
              <a:t>Step 2 complete. Saved ambient + </a:t>
            </a:r>
            <a:r>
              <a:rPr lang="en-US" sz="600" dirty="0" err="1"/>
              <a:t>B_radial</a:t>
            </a:r>
            <a:r>
              <a:rPr lang="en-US" sz="600" dirty="0"/>
              <a:t> to artifacts\workflow\ambient.pt</a:t>
            </a:r>
          </a:p>
          <a:p>
            <a:r>
              <a:rPr lang="en-US" sz="600" dirty="0"/>
              <a:t>Assembling Gaunt tensor from data\</a:t>
            </a:r>
            <a:r>
              <a:rPr lang="en-US" sz="600" dirty="0" err="1"/>
              <a:t>gaunt_cache_wigxjpf</a:t>
            </a:r>
            <a:r>
              <a:rPr lang="en-US" sz="600" dirty="0"/>
              <a:t> (</a:t>
            </a:r>
            <a:r>
              <a:rPr lang="en-US" sz="600" dirty="0" err="1"/>
              <a:t>lmax_limit</a:t>
            </a:r>
            <a:r>
              <a:rPr lang="en-US" sz="600" dirty="0"/>
              <a:t>=35)...</a:t>
            </a:r>
          </a:p>
          <a:p>
            <a:r>
              <a:rPr lang="en-US" sz="600" dirty="0"/>
              <a:t>Gaunt tensor </a:t>
            </a:r>
            <a:r>
              <a:rPr lang="en-US" sz="600" dirty="0" err="1"/>
              <a:t>nnz</a:t>
            </a:r>
            <a:r>
              <a:rPr lang="en-US" sz="600" dirty="0"/>
              <a:t>=13813899, </a:t>
            </a:r>
            <a:r>
              <a:rPr lang="en-US" sz="600" dirty="0" err="1"/>
              <a:t>complete_L</a:t>
            </a:r>
            <a:r>
              <a:rPr lang="en-US" sz="600" dirty="0"/>
              <a:t>=35</a:t>
            </a:r>
          </a:p>
          <a:p>
            <a:r>
              <a:rPr lang="en-US" sz="600" dirty="0"/>
              <a:t>Building sparse mixing matrix...</a:t>
            </a:r>
          </a:p>
          <a:p>
            <a:r>
              <a:rPr lang="en-US" sz="600" dirty="0"/>
              <a:t>Solving first-order currents (no feedback)...</a:t>
            </a:r>
          </a:p>
          <a:p>
            <a:r>
              <a:rPr lang="en-US" sz="600" dirty="0" err="1"/>
              <a:t>b_ext_flat</a:t>
            </a:r>
            <a:r>
              <a:rPr lang="en-US" sz="600" dirty="0"/>
              <a:t>: </a:t>
            </a:r>
            <a:r>
              <a:rPr lang="en-US" sz="600" dirty="0" err="1"/>
              <a:t>max|v</a:t>
            </a:r>
            <a:r>
              <a:rPr lang="en-US" sz="600" dirty="0"/>
              <a:t>|=5.000e-07,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k_flat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</a:t>
            </a:r>
            <a:r>
              <a:rPr lang="en-US" sz="600" dirty="0" err="1"/>
              <a:t>max|v</a:t>
            </a:r>
            <a:r>
              <a:rPr lang="en-US" sz="600" dirty="0"/>
              <a:t>|=3.960e-01, </a:t>
            </a:r>
            <a:r>
              <a:rPr lang="en-US" sz="600" dirty="0" err="1"/>
              <a:t>has_nan</a:t>
            </a:r>
            <a:r>
              <a:rPr lang="en-US" sz="600" dirty="0"/>
              <a:t>=False, </a:t>
            </a:r>
            <a:r>
              <a:rPr lang="en-US" sz="600" dirty="0" err="1"/>
              <a:t>has_inf</a:t>
            </a:r>
            <a:r>
              <a:rPr lang="en-US" sz="600" dirty="0"/>
              <a:t>=False</a:t>
            </a:r>
          </a:p>
          <a:p>
            <a:r>
              <a:rPr lang="en-US" sz="600" dirty="0" err="1"/>
              <a:t>K_tor</a:t>
            </a:r>
            <a:r>
              <a:rPr lang="en-US" sz="600" dirty="0"/>
              <a:t> (</a:t>
            </a:r>
            <a:r>
              <a:rPr lang="en-US" sz="600" dirty="0" err="1"/>
              <a:t>first_order</a:t>
            </a:r>
            <a:r>
              <a:rPr lang="en-US" sz="600" dirty="0"/>
              <a:t>): total power=3.223e-01, top l fractions: l=1:97.34%, l=26:0.58%, l=28:0.54%, l=30:0.47%, l=24:0.33%, l=32:0.32%</a:t>
            </a:r>
          </a:p>
          <a:p>
            <a:r>
              <a:rPr lang="en-US" sz="600" dirty="0"/>
              <a:t>Step 3 complete. Saved solution to artifacts\workflow\solution_first_order.pt</a:t>
            </a:r>
          </a:p>
        </p:txBody>
      </p:sp>
    </p:spTree>
    <p:extLst>
      <p:ext uri="{BB962C8B-B14F-4D97-AF65-F5344CB8AC3E}">
        <p14:creationId xmlns:p14="http://schemas.microsoft.com/office/powerpoint/2010/main" val="670136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E61-C66F-5A2B-C7E4-76CDF7119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Stablity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04435-DD73-A721-E7C6-96979BC10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5% level</a:t>
            </a:r>
          </a:p>
          <a:p>
            <a:r>
              <a:rPr lang="en-US" dirty="0"/>
              <a:t>For checker sub &lt;5 checker mean &lt;= 500 S in full solution</a:t>
            </a:r>
          </a:p>
          <a:p>
            <a:r>
              <a:rPr lang="en-US" dirty="0"/>
              <a:t>For </a:t>
            </a:r>
            <a:r>
              <a:rPr lang="en-US" dirty="0" err="1"/>
              <a:t>subdiv</a:t>
            </a:r>
            <a:r>
              <a:rPr lang="en-US" dirty="0"/>
              <a:t> =5 checker mean &lt;= 100 S for stability in full solution</a:t>
            </a:r>
          </a:p>
          <a:p>
            <a:r>
              <a:rPr lang="en-US" dirty="0"/>
              <a:t>Self consistent solution is producing same level of field as radial field – like perfect conductor</a:t>
            </a:r>
          </a:p>
        </p:txBody>
      </p:sp>
    </p:spTree>
    <p:extLst>
      <p:ext uri="{BB962C8B-B14F-4D97-AF65-F5344CB8AC3E}">
        <p14:creationId xmlns:p14="http://schemas.microsoft.com/office/powerpoint/2010/main" val="3121422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6881</TotalTime>
  <Words>585</Words>
  <Application>Microsoft Office PowerPoint</Application>
  <PresentationFormat>Widescreen</PresentationFormat>
  <Paragraphs>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Notes About Gradient cal</vt:lpstr>
      <vt:lpstr>PowerPoint Presentation</vt:lpstr>
      <vt:lpstr>Issue with nonlinear solver, sd=3</vt:lpstr>
      <vt:lpstr>Non linear solver sd=2</vt:lpstr>
      <vt:lpstr>PowerPoint Presentation</vt:lpstr>
      <vt:lpstr>Stablity</vt:lpstr>
    </vt:vector>
  </TitlesOfParts>
  <Company>JPL ITSD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Lindeman, Mark A (US 382J)</dc:creator>
  <cp:lastModifiedBy>Lindeman, Mark A (US 382J)</cp:lastModifiedBy>
  <cp:revision>3</cp:revision>
  <dcterms:created xsi:type="dcterms:W3CDTF">2026-01-16T21:04:34Z</dcterms:created>
  <dcterms:modified xsi:type="dcterms:W3CDTF">2026-01-28T16:55:14Z</dcterms:modified>
</cp:coreProperties>
</file>