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70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c5b4c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c5b4c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c5b4c7c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c5b4c7c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c5b4c7c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cc5b4c7c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functions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 Gradiometer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3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975" y="2571750"/>
            <a:ext cx="5591399" cy="218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FE2B2-5E8F-EC3F-413D-AEE97CB96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212" y="385043"/>
            <a:ext cx="4327449" cy="1987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 km Gradiometer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181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376" y="2571750"/>
            <a:ext cx="5811625" cy="2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Graphical user interface, chart, histogram&#10;&#10;AI-generated content may be incorrect.">
            <a:extLst>
              <a:ext uri="{FF2B5EF4-FFF2-40B4-BE49-F238E27FC236}">
                <a16:creationId xmlns:a16="http://schemas.microsoft.com/office/drawing/2014/main" id="{59D06B3C-72BC-1DEC-EFE3-A86E92112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93" y="289431"/>
            <a:ext cx="4938492" cy="2282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	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Samples of more than 1 second are well into the uncorrelated regime for 10 m and 100 km designs of gradiomenter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However, without the gradiometer the solar wind is correlated upto 100 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I’m not exactly sure why the two calculations of correlation of the (blue) solar wind only differ so much.  It is likely because correlation is not well defined for a power law so difference in sample window greatly affect the result.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931C-4228-126A-B84C-8CAC765D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6994AD-752D-1036-3551-76FD29BA8A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Why this is true (tight version)</a:t>
                </a:r>
              </a:p>
              <a:p>
                <a:r>
                  <a:rPr lang="en-US" dirty="0"/>
                  <a:t>If the noise PSD is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𝑆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𝑓</m:t>
                        </m:r>
                      </m:e>
                    </m:d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𝐴</m:t>
                        </m:r>
                      </m:num>
                      <m:den>
                        <m:r>
                          <a:rPr lang="ar-AE" i="1"/>
                          <m:t>𝑓</m:t>
                        </m:r>
                      </m:den>
                    </m:f>
                    <m:r>
                      <a:rPr lang="ar-AE"/>
                      <m:t>,</m:t>
                    </m:r>
                  </m:oMath>
                </a14:m>
                <a:endParaRPr lang="ar-AE" dirty="0"/>
              </a:p>
              <a:p>
                <a:r>
                  <a:rPr lang="en-US" dirty="0"/>
                  <a:t>and your frequency bin scales as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/>
                      <m:t>Δ</m:t>
                    </m:r>
                    <m:r>
                      <a:rPr lang="el-GR" i="1"/>
                      <m:t>𝑓</m:t>
                    </m:r>
                    <m:r>
                      <a:rPr lang="el-GR"/>
                      <m:t>∼</m:t>
                    </m:r>
                    <m:r>
                      <a:rPr lang="el-GR" i="1"/>
                      <m:t>𝑓</m:t>
                    </m:r>
                    <m:r>
                      <a:rPr lang="el-GR"/>
                      <m:t> 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constant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fractional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bandwidth</m:t>
                        </m:r>
                      </m:e>
                    </m:d>
                    <m:r>
                      <a:rPr lang="ar-AE"/>
                      <m:t>,</m:t>
                    </m:r>
                  </m:oMath>
                </a14:m>
                <a:endParaRPr lang="ar-AE" dirty="0"/>
              </a:p>
              <a:p>
                <a:r>
                  <a:rPr lang="en-US" dirty="0"/>
                  <a:t>then the noise power in that bin is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𝜎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𝑓</m:t>
                        </m:r>
                      </m:e>
                    </m:d>
                    <m:r>
                      <a:rPr lang="ar-AE"/>
                      <m:t>∼</m:t>
                    </m:r>
                    <m:r>
                      <a:rPr lang="ar-AE" i="1"/>
                      <m:t>𝑆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𝑓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sty m:val="p"/>
                      </m:rPr>
                      <a:rPr lang="el-GR"/>
                      <m:t>Δ</m:t>
                    </m:r>
                    <m:r>
                      <a:rPr lang="el-GR" i="1"/>
                      <m:t>𝑓</m:t>
                    </m:r>
                    <m:r>
                      <a:rPr lang="el-GR"/>
                      <m:t>∼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𝐴</m:t>
                        </m:r>
                      </m:num>
                      <m:den>
                        <m:r>
                          <a:rPr lang="ar-AE" i="1"/>
                          <m:t>𝑓</m:t>
                        </m:r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/>
                      <m:t>𝑓</m:t>
                    </m:r>
                    <m:r>
                      <a:rPr lang="ar-AE"/>
                      <m:t>=</m:t>
                    </m:r>
                    <m:r>
                      <a:rPr lang="ar-AE" i="1"/>
                      <m:t>𝐴</m:t>
                    </m:r>
                    <m:r>
                      <a:rPr lang="ar-AE"/>
                      <m:t>.</m:t>
                    </m:r>
                  </m:oMath>
                </a14:m>
                <a:endParaRPr lang="ar-AE" dirty="0"/>
              </a:p>
              <a:p>
                <a:r>
                  <a:rPr lang="en-US" dirty="0"/>
                  <a:t>So:</a:t>
                </a:r>
              </a:p>
              <a:p>
                <a:r>
                  <a:rPr lang="en-US" dirty="0"/>
                  <a:t>Lower frequencies → higher PSD</a:t>
                </a:r>
              </a:p>
              <a:p>
                <a:r>
                  <a:rPr lang="en-US" dirty="0"/>
                  <a:t>But → proportionally narrower bandwidth</a:t>
                </a:r>
              </a:p>
              <a:p>
                <a:r>
                  <a:rPr lang="en-US" b="1" dirty="0"/>
                  <a:t>They cancel</a:t>
                </a:r>
                <a:endParaRPr lang="en-US" dirty="0"/>
              </a:p>
              <a:p>
                <a:r>
                  <a:rPr lang="en-US" dirty="0"/>
                  <a:t>That’s exactly the reasoning you gave.</a:t>
                </a:r>
              </a:p>
              <a:p>
                <a:r>
                  <a:rPr lang="en-US" dirty="0"/>
                  <a:t>This is why people say:</a:t>
                </a:r>
              </a:p>
              <a:p>
                <a14:m>
                  <m:oMath xmlns:m="http://schemas.openxmlformats.org/officeDocument/2006/math">
                    <m:r>
                      <a:rPr lang="en-US" b="1" i="1"/>
                      <m:t>𝟏</m:t>
                    </m:r>
                    <m:r>
                      <a:rPr lang="en-US" b="1"/>
                      <m:t>/</m:t>
                    </m:r>
                    <m:r>
                      <a:rPr lang="en-US" b="1" i="1"/>
                      <m:t>𝒇</m:t>
                    </m:r>
                  </m:oMath>
                </a14:m>
                <a:r>
                  <a:rPr lang="en-US" b="1" i="1" dirty="0"/>
                  <a:t>noise has equal power per decade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6994AD-752D-1036-3551-76FD29BA8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536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1882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</Words>
  <Application>Microsoft Office PowerPoint</Application>
  <PresentationFormat>On-screen Show (16:9)</PresentationFormat>
  <Paragraphs>21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Correlation functions</vt:lpstr>
      <vt:lpstr>10 m Gradiometer</vt:lpstr>
      <vt:lpstr>100 km Gradiometer</vt:lpstr>
      <vt:lpstr>Conclusions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Lindeman, Mark A (US 365H)</cp:lastModifiedBy>
  <cp:revision>2</cp:revision>
  <dcterms:modified xsi:type="dcterms:W3CDTF">2026-02-03T17:27:16Z</dcterms:modified>
</cp:coreProperties>
</file>